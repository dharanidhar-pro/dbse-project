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6"/>
  </p:notesMasterIdLst>
  <p:handoutMasterIdLst>
    <p:handoutMasterId r:id="rId17"/>
  </p:handoutMasterIdLst>
  <p:sldIdLst>
    <p:sldId id="258" r:id="rId3"/>
    <p:sldId id="377" r:id="rId4"/>
    <p:sldId id="391" r:id="rId5"/>
    <p:sldId id="392" r:id="rId6"/>
    <p:sldId id="393" r:id="rId7"/>
    <p:sldId id="394" r:id="rId8"/>
    <p:sldId id="395" r:id="rId9"/>
    <p:sldId id="396" r:id="rId10"/>
    <p:sldId id="398" r:id="rId11"/>
    <p:sldId id="399" r:id="rId12"/>
    <p:sldId id="397" r:id="rId13"/>
    <p:sldId id="374" r:id="rId14"/>
    <p:sldId id="33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66899-C096-4686-B300-E1D6AA42CDE9}" v="18" dt="2026-07-02T16:12:21.471"/>
    <p1510:client id="{E9B0078F-71CD-40F1-B7A0-85484F5377DB}" v="8" dt="2026-07-03T06:55:41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70" autoAdjust="0"/>
    <p:restoredTop sz="95033" autoAdjust="0"/>
  </p:normalViewPr>
  <p:slideViewPr>
    <p:cSldViewPr snapToGrid="0" snapToObjects="1">
      <p:cViewPr varScale="1">
        <p:scale>
          <a:sx n="83" d="100"/>
          <a:sy n="83" d="100"/>
        </p:scale>
        <p:origin x="58" y="12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8/10/relationships/authors" Target="authors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1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4B66-EC91-2BD6-7D3F-FB9E75F4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0EFCE-537F-8314-27E9-BA17DC42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1D28A-95EE-C579-9938-AA5724487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A88E0-9C15-85FD-D2EF-741091DD3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06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2C9F-32E2-1DF3-D933-ED26BBAA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BD77D-896E-36B8-476D-3DB9858E9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81400-FC6F-EC9E-B10C-065E4BC0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78FD-5294-B25F-1455-AC41BC994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32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06273-E937-F422-4138-54AC4A0C9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68FC0E-3D38-8DAB-086B-9FD6A7E728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90FBE2-E27B-8B13-7E20-02441DB997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11A27-B5B3-9567-97D4-B535657FD5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4304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8E8-8740-3949-BE64-BB62EA0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BF00-6CFB-1C09-C3B7-8F0F83540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5D7B-5FA1-6B53-71F8-A93818030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3D1A-5BCA-DD1F-4EB8-C6373CAC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18-08-2026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18-08-2026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18-08-2026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18-08-2026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17" y="606175"/>
            <a:ext cx="10392383" cy="471063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Multi-Vendor  E-Commerce Marketplace</a:t>
            </a:r>
            <a:endParaRPr lang="en-US" sz="2400" b="1" dirty="0">
              <a:solidFill>
                <a:srgbClr val="01189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</a:p>
          <a:p>
            <a:pPr marL="0" indent="0" algn="ctr">
              <a:buNone/>
            </a:pPr>
            <a:r>
              <a:rPr lang="en-US" sz="2400" dirty="0"/>
              <a:t>of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Dr. Y Prasanthi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166467"/>
              </p:ext>
            </p:extLst>
          </p:nvPr>
        </p:nvGraphicFramePr>
        <p:xfrm>
          <a:off x="2032000" y="1680962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B.Thrinadh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2520030529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K.</a:t>
                      </a:r>
                      <a:r>
                        <a:rPr lang="en-IN" b="1" dirty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lang="en-IN" sz="1800" b="0" dirty="0" err="1">
                          <a:solidFill>
                            <a:schemeClr val="tx1"/>
                          </a:solidFill>
                        </a:rPr>
                        <a:t>SreeKara</a:t>
                      </a:r>
                      <a:r>
                        <a:rPr lang="en-IN" sz="1800" b="0" dirty="0">
                          <a:solidFill>
                            <a:schemeClr val="tx1"/>
                          </a:solidFill>
                        </a:rPr>
                        <a:t> Karthik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2520030235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Dharani Dhar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2520030163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8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0159-92E9-5749-2215-8FA86E40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GROUP NUMBER:1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EE83-A330-74AD-884C-C19F63D4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8CDC1-D8FB-8D4B-F57A-06B2C414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D94FEB8-52D1-2D12-5891-6583D8FD4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0252002"/>
              </p:ext>
            </p:extLst>
          </p:nvPr>
        </p:nvGraphicFramePr>
        <p:xfrm>
          <a:off x="838199" y="1416193"/>
          <a:ext cx="10515600" cy="3567649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465638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75382372"/>
                    </a:ext>
                  </a:extLst>
                </a:gridCol>
              </a:tblGrid>
              <a:tr h="4184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162894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B.Thrinadh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Database / DBMS Role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8415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K.</a:t>
                      </a:r>
                      <a:r>
                        <a:rPr lang="en-IN" b="1" dirty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lang="en-IN" sz="1800" b="0" dirty="0" err="1">
                          <a:solidFill>
                            <a:schemeClr val="tx1"/>
                          </a:solidFill>
                        </a:rPr>
                        <a:t>SreeKara</a:t>
                      </a:r>
                      <a:r>
                        <a:rPr lang="en-IN" sz="1800" b="0" dirty="0">
                          <a:solidFill>
                            <a:schemeClr val="tx1"/>
                          </a:solidFill>
                        </a:rPr>
                        <a:t> Karthik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Backend / Application Logic Role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687620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Dharani Dhar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Frontend / User &amp; Admin Role</a:t>
                      </a:r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241275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2168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9593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9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A Multi-Vendor E-Commerce Marketplace is an online platform that allows multiple sellers to register, list, and sell their products through a single website. Traditional online shopping platforms may limit small businesses and individual sellers by providing fewer opportunities to reach customers. This project aims to solve this problem by creating a centralized marketplace where different vendors can manage their products, prices, inventory, and orders.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INTRDOUCTION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241EE-20FA-FE88-F0CE-F84CFE3ED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allows customers to purchase products online. </a:t>
            </a:r>
          </a:p>
          <a:p>
            <a:pPr marL="342900" lvl="0" indent="-34290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multi-vendor marketplace allows multiple sellers to sell products on one platform. </a:t>
            </a:r>
          </a:p>
          <a:p>
            <a:pPr marL="342900" lvl="0" indent="-34290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Vendors can register and manage their own products. </a:t>
            </a:r>
          </a:p>
          <a:p>
            <a:pPr marL="342900" lvl="0" indent="-34290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can browse products from different vendors. </a:t>
            </a:r>
          </a:p>
          <a:p>
            <a:pPr marL="342900" lvl="0" indent="-34290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 centralized database for managing users, products, inventory, and orders. </a:t>
            </a:r>
          </a:p>
          <a:p>
            <a:pPr marL="342900" lvl="0" indent="-34290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goal is to provide a simple, secure, and efficient online marketplace.</a:t>
            </a:r>
          </a:p>
          <a:p>
            <a:endParaRPr lang="en-IN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021FD-8573-454E-AAE6-0DB770428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are mainly managed by one seller or organization.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businesses may have limited opportunities to reach customers.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have fewer sellers available within the same platform.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Vendor-specific product and inventory management is limited.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multiple independent sellers is not supported effectively.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PROBLEM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C0964-43C5-DE58-F74B-F0B3B1F5C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vendors have limited online reach.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products and inventory can be difficult.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may find it difficult to compare products from different sellers.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multiple vendors and their orders requires proper database organization.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Product, customer, vendor, and order information needs to be maintained efficiently.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centralized management can lead to inefficient data handling.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SOLUTION(Contribution)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5A205-0B24-5585-AD3A-14F0657A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Single/limited sellers →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vendors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product management →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Vendor-wise product management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inventory management →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inventory management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ordering →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Multi-vendor order management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administration →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Admin-controlled marketplace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Separate/limited data →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MySQL database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3A8-3533-6CAA-B371-DE8FA025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2015-9851-BB00-C9BE-D020141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Objectives 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06D5-4F08-32F7-69CA-DA098382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2EE72-0990-73F7-3A95-5511C5AA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0F2FD-B824-35C5-9EAA-5AF510938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lvl="0" indent="-28575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centralized multi-vendor e-commerce platform. </a:t>
            </a:r>
          </a:p>
          <a:p>
            <a:pPr marL="285750" lvl="0" indent="-28575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allow multiple vendors to register and sell products. </a:t>
            </a:r>
          </a:p>
          <a:p>
            <a:pPr marL="285750" lvl="0" indent="-28575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allow vendors to manage products, prices, and stock. </a:t>
            </a:r>
          </a:p>
          <a:p>
            <a:pPr marL="285750" lvl="0" indent="-28575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allow customers to search and browse products. </a:t>
            </a:r>
          </a:p>
          <a:p>
            <a:pPr marL="285750" lvl="0" indent="-28575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cart and order management. </a:t>
            </a:r>
          </a:p>
          <a:p>
            <a:pPr marL="285750" lvl="0" indent="-28575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allow customers to track purchases. </a:t>
            </a:r>
          </a:p>
          <a:p>
            <a:pPr marL="285750" lvl="0" indent="-28575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administrators with complete system management. </a:t>
            </a:r>
          </a:p>
          <a:p>
            <a:pPr marL="285750" lvl="0" indent="-28575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data efficiently using a MySQL database.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207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377E-B28A-2AB9-1E52-312C1B6D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CE29-8CD2-1FFC-0567-2D18CBDB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Modules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5840-59B4-6944-E4BB-E2BB1AD6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9982D-9C14-E702-5AE1-C9030BFD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3661BCB-9639-157D-A20C-D9731CE6B310}"/>
              </a:ext>
            </a:extLst>
          </p:cNvPr>
          <p:cNvSpPr txBox="1">
            <a:spLocks/>
          </p:cNvSpPr>
          <p:nvPr/>
        </p:nvSpPr>
        <p:spPr>
          <a:xfrm>
            <a:off x="406401" y="1959968"/>
            <a:ext cx="3209365" cy="3207344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Admin Module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users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vendors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products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orders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the overall platform</a:t>
            </a: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A21993C-51C7-E779-612F-79BD3E737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600" y="2080041"/>
            <a:ext cx="3209365" cy="32073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Vendor Module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Vendor registration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products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products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prices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stock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orders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ABCECF-F8A6-24F0-E957-B6CE172B6012}"/>
              </a:ext>
            </a:extLst>
          </p:cNvPr>
          <p:cNvSpPr txBox="1">
            <a:spLocks/>
          </p:cNvSpPr>
          <p:nvPr/>
        </p:nvSpPr>
        <p:spPr>
          <a:xfrm>
            <a:off x="8267905" y="1959968"/>
            <a:ext cx="3209365" cy="3207344"/>
          </a:xfrm>
          <a:prstGeom prst="rect">
            <a:avLst/>
          </a:prstGeom>
        </p:spPr>
        <p:txBody>
          <a:bodyPr vert="horz" lIns="91440" tIns="0" rIns="91440" bIns="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Customer Module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Register/Login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Browse products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and filter products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products to cart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 orders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 purchases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07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D178A-9FFD-79A3-52E5-0DB7EC4AE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459BC-EFE8-B2F9-3ECB-EDDB4C593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Modules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4497F-CEC7-0A95-7B92-0DD972CE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51239-43A4-32AA-AFED-41115D70D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E827789-00EC-5463-1DDE-15C7E6BE6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565" y="2340495"/>
            <a:ext cx="3478308" cy="32073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 Management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product stock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stock quantity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available/out-of-stock products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CEB7C5C-3E1B-B278-5B30-F10DC8C3203D}"/>
              </a:ext>
            </a:extLst>
          </p:cNvPr>
          <p:cNvSpPr txBox="1">
            <a:spLocks/>
          </p:cNvSpPr>
          <p:nvPr/>
        </p:nvSpPr>
        <p:spPr>
          <a:xfrm>
            <a:off x="5958814" y="2238895"/>
            <a:ext cx="3831731" cy="3207344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Cart &amp;Order Management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products to cart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cart items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 orders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 order details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 order status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157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D793-788A-0BBE-1A25-0D6B7B4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695C-2E9D-0BEB-6476-FC1A685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SOFTWARE REQUIREMENTS 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9F55-DE57-8408-42F6-4E0FBAB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B38-760E-3758-6704-655E2B6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7A9BD8-19EA-F7CA-A43F-85BE98266FC2}"/>
              </a:ext>
            </a:extLst>
          </p:cNvPr>
          <p:cNvSpPr txBox="1"/>
          <p:nvPr/>
        </p:nvSpPr>
        <p:spPr>
          <a:xfrm>
            <a:off x="1200727" y="2719315"/>
            <a:ext cx="2549237" cy="86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>
                <a:solidFill>
                  <a:srgbClr val="1F2C8F"/>
                </a:solidFill>
                <a:latin typeface="Aptos"/>
              </a:defRPr>
            </a:pPr>
            <a:r>
              <a:rPr lang="en-US" sz="1350" dirty="0"/>
              <a:t>• HTML5 – Page structure</a:t>
            </a:r>
          </a:p>
          <a:p>
            <a:pPr>
              <a:spcAft>
                <a:spcPts val="600"/>
              </a:spcAft>
              <a:defRPr sz="1350">
                <a:solidFill>
                  <a:srgbClr val="1F2C8F"/>
                </a:solidFill>
                <a:latin typeface="Aptos"/>
              </a:defRPr>
            </a:pPr>
            <a:r>
              <a:rPr lang="en-US" sz="1350" dirty="0"/>
              <a:t>• CSS3 – Styling and layout</a:t>
            </a:r>
          </a:p>
          <a:p>
            <a:pPr>
              <a:spcAft>
                <a:spcPts val="600"/>
              </a:spcAft>
              <a:defRPr sz="1350">
                <a:solidFill>
                  <a:srgbClr val="1F2C8F"/>
                </a:solidFill>
                <a:latin typeface="Aptos"/>
              </a:defRPr>
            </a:pPr>
            <a:r>
              <a:rPr lang="en-US" sz="1350" dirty="0"/>
              <a:t>• JavaScript – User interaction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7018E7-4F82-C40C-9780-4C20B1A575D5}"/>
              </a:ext>
            </a:extLst>
          </p:cNvPr>
          <p:cNvSpPr txBox="1"/>
          <p:nvPr/>
        </p:nvSpPr>
        <p:spPr>
          <a:xfrm>
            <a:off x="1234440" y="2355495"/>
            <a:ext cx="4160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C8F"/>
                </a:solidFill>
                <a:latin typeface="Aptos Display"/>
              </a:defRPr>
            </a:pPr>
            <a:r>
              <a:rPr dirty="0"/>
              <a:t>FRONTEND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0B5C95-79D9-2FB7-00AA-4E7B6E8AE4A5}"/>
              </a:ext>
            </a:extLst>
          </p:cNvPr>
          <p:cNvSpPr txBox="1"/>
          <p:nvPr/>
        </p:nvSpPr>
        <p:spPr>
          <a:xfrm>
            <a:off x="6169891" y="23631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2C8F"/>
                </a:solidFill>
                <a:latin typeface="Aptos Display"/>
              </a:defRPr>
            </a:pPr>
            <a:r>
              <a:rPr lang="en-IN"/>
              <a:t>BACKEND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33F673-22D1-6B23-50C3-5F72F38EE0A6}"/>
              </a:ext>
            </a:extLst>
          </p:cNvPr>
          <p:cNvSpPr txBox="1"/>
          <p:nvPr/>
        </p:nvSpPr>
        <p:spPr>
          <a:xfrm>
            <a:off x="5938982" y="2702967"/>
            <a:ext cx="3565236" cy="86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>
                <a:solidFill>
                  <a:srgbClr val="1F2C8F"/>
                </a:solidFill>
                <a:latin typeface="Aptos"/>
              </a:defRPr>
            </a:pPr>
            <a:r>
              <a:rPr lang="en-US" sz="1350" dirty="0"/>
              <a:t>• Python – Backend programming</a:t>
            </a:r>
          </a:p>
          <a:p>
            <a:pPr>
              <a:spcAft>
                <a:spcPts val="600"/>
              </a:spcAft>
              <a:defRPr sz="1350">
                <a:solidFill>
                  <a:srgbClr val="1F2C8F"/>
                </a:solidFill>
                <a:latin typeface="Aptos"/>
              </a:defRPr>
            </a:pPr>
            <a:r>
              <a:rPr lang="en-US" sz="1350" dirty="0"/>
              <a:t>• Flask – Web application framework</a:t>
            </a:r>
          </a:p>
          <a:p>
            <a:pPr>
              <a:spcAft>
                <a:spcPts val="600"/>
              </a:spcAft>
              <a:defRPr sz="1350">
                <a:solidFill>
                  <a:srgbClr val="1F2C8F"/>
                </a:solidFill>
                <a:latin typeface="Aptos"/>
              </a:defRPr>
            </a:pPr>
            <a:r>
              <a:rPr lang="en-US" sz="1350" dirty="0"/>
              <a:t>• REST API – Client–server communication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A8F519-AF9B-5683-9A0C-932A1A020EE5}"/>
              </a:ext>
            </a:extLst>
          </p:cNvPr>
          <p:cNvSpPr txBox="1"/>
          <p:nvPr/>
        </p:nvSpPr>
        <p:spPr>
          <a:xfrm>
            <a:off x="1234440" y="4584067"/>
            <a:ext cx="4160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C8F"/>
                </a:solidFill>
                <a:latin typeface="Aptos Display"/>
              </a:defRPr>
            </a:pPr>
            <a:r>
              <a:rPr dirty="0"/>
              <a:t>DATABASE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043C03-4E74-7EEF-8BB6-647900B49A76}"/>
              </a:ext>
            </a:extLst>
          </p:cNvPr>
          <p:cNvSpPr txBox="1"/>
          <p:nvPr/>
        </p:nvSpPr>
        <p:spPr>
          <a:xfrm>
            <a:off x="1200727" y="5344071"/>
            <a:ext cx="4322618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>
                <a:solidFill>
                  <a:srgbClr val="1F2C8F"/>
                </a:solidFill>
                <a:latin typeface="Aptos"/>
              </a:defRPr>
            </a:pPr>
            <a:r>
              <a:rPr lang="en-IN" sz="1350" dirty="0"/>
              <a:t>• MySQL – Relational database</a:t>
            </a:r>
          </a:p>
          <a:p>
            <a:pPr>
              <a:spcAft>
                <a:spcPts val="600"/>
              </a:spcAft>
              <a:defRPr sz="1350">
                <a:solidFill>
                  <a:srgbClr val="1F2C8F"/>
                </a:solidFill>
                <a:latin typeface="Aptos"/>
              </a:defRPr>
            </a:pPr>
            <a:r>
              <a:rPr lang="en-IN" sz="1350" dirty="0"/>
              <a:t>• MySQL Workbench – Database design &amp; management</a:t>
            </a:r>
          </a:p>
          <a:p>
            <a:pPr>
              <a:spcAft>
                <a:spcPts val="600"/>
              </a:spcAft>
              <a:defRPr sz="1350">
                <a:solidFill>
                  <a:srgbClr val="1F2C8F"/>
                </a:solidFill>
                <a:latin typeface="Aptos"/>
              </a:defRPr>
            </a:pPr>
            <a:r>
              <a:rPr lang="en-IN" sz="1350" dirty="0"/>
              <a:t>• MySQL Connector/Python – Database connectivity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50">
                <a:solidFill>
                  <a:srgbClr val="1F2C8F"/>
                </a:solidFill>
                <a:latin typeface="Aptos"/>
              </a:defRPr>
            </a:pPr>
            <a:r>
              <a:rPr lang="en-IN" sz="1350" dirty="0"/>
              <a:t>Mongo DB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8216B4-02F2-F588-BB47-920A1E6101D0}"/>
              </a:ext>
            </a:extLst>
          </p:cNvPr>
          <p:cNvSpPr txBox="1"/>
          <p:nvPr/>
        </p:nvSpPr>
        <p:spPr>
          <a:xfrm>
            <a:off x="6169891" y="4474602"/>
            <a:ext cx="4160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C8F"/>
                </a:solidFill>
                <a:latin typeface="Aptos Display"/>
              </a:defRPr>
            </a:pPr>
            <a:r>
              <a:rPr dirty="0"/>
              <a:t>DEVELOPMENT &amp; TESTING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518A67-E937-400D-79E0-7A78EA2F91C0}"/>
              </a:ext>
            </a:extLst>
          </p:cNvPr>
          <p:cNvSpPr txBox="1"/>
          <p:nvPr/>
        </p:nvSpPr>
        <p:spPr>
          <a:xfrm>
            <a:off x="6096000" y="5330842"/>
            <a:ext cx="6132944" cy="86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>
                <a:solidFill>
                  <a:srgbClr val="1F2C8F"/>
                </a:solidFill>
                <a:latin typeface="Aptos"/>
              </a:defRPr>
            </a:pPr>
            <a:r>
              <a:rPr lang="en-IN" sz="1350" dirty="0"/>
              <a:t>• VS Code – Development environment</a:t>
            </a:r>
          </a:p>
          <a:p>
            <a:pPr>
              <a:spcAft>
                <a:spcPts val="600"/>
              </a:spcAft>
              <a:defRPr sz="1350">
                <a:solidFill>
                  <a:srgbClr val="1F2C8F"/>
                </a:solidFill>
                <a:latin typeface="Aptos"/>
              </a:defRPr>
            </a:pPr>
            <a:r>
              <a:rPr lang="en-IN" sz="1350" dirty="0"/>
              <a:t>• Postman – API testing</a:t>
            </a:r>
          </a:p>
          <a:p>
            <a:pPr>
              <a:spcAft>
                <a:spcPts val="600"/>
              </a:spcAft>
              <a:defRPr sz="1350">
                <a:solidFill>
                  <a:srgbClr val="1F2C8F"/>
                </a:solidFill>
                <a:latin typeface="Aptos"/>
              </a:defRPr>
            </a:pPr>
            <a:r>
              <a:rPr lang="en-IN" sz="1350" dirty="0"/>
              <a:t>• Git &amp; GitHub – Version control</a:t>
            </a:r>
          </a:p>
        </p:txBody>
      </p:sp>
    </p:spTree>
    <p:extLst>
      <p:ext uri="{BB962C8B-B14F-4D97-AF65-F5344CB8AC3E}">
        <p14:creationId xmlns:p14="http://schemas.microsoft.com/office/powerpoint/2010/main" val="1098968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8C2-111B-5352-5128-7126DF2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4D73-0C98-1BCC-AF71-A634817E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A0B0B4-0323-82D4-C481-9A75F01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72EAA5-E6EE-69C5-6259-8A7439188202}"/>
              </a:ext>
            </a:extLst>
          </p:cNvPr>
          <p:cNvSpPr txBox="1"/>
          <p:nvPr/>
        </p:nvSpPr>
        <p:spPr>
          <a:xfrm>
            <a:off x="1163782" y="1861418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platform for multiple vendors and customers.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Vendors can manage products, prices, inventory, and orders.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can browse, purchase, and track products.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manage the complete marketplace.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provides organized database management.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4552B1-AD7F-C53A-E9F6-BB1A0DAF777B}"/>
              </a:ext>
            </a:extLst>
          </p:cNvPr>
          <p:cNvSpPr txBox="1"/>
          <p:nvPr/>
        </p:nvSpPr>
        <p:spPr>
          <a:xfrm>
            <a:off x="1163782" y="3338746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Search &amp; Filter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&amp; Analytics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Security &amp; Authentication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Payment Management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Database Management</a:t>
            </a:r>
          </a:p>
        </p:txBody>
      </p:sp>
    </p:spTree>
    <p:extLst>
      <p:ext uri="{BB962C8B-B14F-4D97-AF65-F5344CB8AC3E}">
        <p14:creationId xmlns:p14="http://schemas.microsoft.com/office/powerpoint/2010/main" val="1749009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 dirty="0">
                <a:solidFill>
                  <a:srgbClr val="0070C0"/>
                </a:solidFill>
              </a:rPr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8261</TotalTime>
  <Words>719</Words>
  <Application>Microsoft Office PowerPoint</Application>
  <PresentationFormat>Widescreen</PresentationFormat>
  <Paragraphs>164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Custom Design</vt:lpstr>
      <vt:lpstr>Multi-Vendor  E-Commerce Marketplace</vt:lpstr>
      <vt:lpstr>GROUP NUMBER:1</vt:lpstr>
      <vt:lpstr>ABSTRACT</vt:lpstr>
      <vt:lpstr>INTRDOUCTION</vt:lpstr>
      <vt:lpstr>EXISTING SYSTEM</vt:lpstr>
      <vt:lpstr>PROBLEM</vt:lpstr>
      <vt:lpstr>SOLUTION(Contribution)</vt:lpstr>
      <vt:lpstr>Objectives </vt:lpstr>
      <vt:lpstr>Modules</vt:lpstr>
      <vt:lpstr>Modules</vt:lpstr>
      <vt:lpstr>SOFTWARE REQUIREMENTS 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Thrinadh Bandaru</cp:lastModifiedBy>
  <cp:revision>101</cp:revision>
  <dcterms:created xsi:type="dcterms:W3CDTF">2022-05-20T10:20:31Z</dcterms:created>
  <dcterms:modified xsi:type="dcterms:W3CDTF">2026-08-18T03:49:57Z</dcterms:modified>
</cp:coreProperties>
</file>